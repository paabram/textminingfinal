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59" r:id="rId5"/>
    <p:sldId id="260" r:id="rId6"/>
    <p:sldId id="261" r:id="rId7"/>
    <p:sldId id="264" r:id="rId8"/>
    <p:sldId id="258" r:id="rId9"/>
    <p:sldId id="25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105" d="100"/>
          <a:sy n="105" d="100"/>
        </p:scale>
        <p:origin x="82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0A0E5-241B-11D7-07D3-A21C5570BB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AE0461-0B3F-1AE1-4715-71518C1D64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396C0B-2414-AC9C-2F1D-937F4EEF579A}"/>
              </a:ext>
            </a:extLst>
          </p:cNvPr>
          <p:cNvSpPr>
            <a:spLocks noGrp="1"/>
          </p:cNvSpPr>
          <p:nvPr>
            <p:ph type="dt" sz="half" idx="10"/>
          </p:nvPr>
        </p:nvSpPr>
        <p:spPr/>
        <p:txBody>
          <a:bodyPr/>
          <a:lstStyle/>
          <a:p>
            <a:fld id="{D4019BAE-ED96-4194-A187-1DC6CE5F42E2}" type="datetimeFigureOut">
              <a:rPr lang="en-US" smtClean="0"/>
              <a:t>12/7/2025</a:t>
            </a:fld>
            <a:endParaRPr lang="en-US"/>
          </a:p>
        </p:txBody>
      </p:sp>
      <p:sp>
        <p:nvSpPr>
          <p:cNvPr id="5" name="Footer Placeholder 4">
            <a:extLst>
              <a:ext uri="{FF2B5EF4-FFF2-40B4-BE49-F238E27FC236}">
                <a16:creationId xmlns:a16="http://schemas.microsoft.com/office/drawing/2014/main" id="{FE858EBC-EFBC-FDDA-E9AE-B41B38FF2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2E536-6BC6-1BBD-08B0-4099976CD046}"/>
              </a:ext>
            </a:extLst>
          </p:cNvPr>
          <p:cNvSpPr>
            <a:spLocks noGrp="1"/>
          </p:cNvSpPr>
          <p:nvPr>
            <p:ph type="sldNum" sz="quarter" idx="12"/>
          </p:nvPr>
        </p:nvSpPr>
        <p:spPr/>
        <p:txBody>
          <a:bodyPr/>
          <a:lstStyle/>
          <a:p>
            <a:fld id="{A896CD51-CFD0-4A8E-BEA2-E20902AE54C6}" type="slidenum">
              <a:rPr lang="en-US" smtClean="0"/>
              <a:t>‹#›</a:t>
            </a:fld>
            <a:endParaRPr lang="en-US"/>
          </a:p>
        </p:txBody>
      </p:sp>
    </p:spTree>
    <p:extLst>
      <p:ext uri="{BB962C8B-B14F-4D97-AF65-F5344CB8AC3E}">
        <p14:creationId xmlns:p14="http://schemas.microsoft.com/office/powerpoint/2010/main" val="735449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A034B-CE41-3BA5-5E36-8D53C2BD6B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3CAD70-A23F-B556-4211-7C87191320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AEA666-143B-FB64-CEBD-10DE5A800D34}"/>
              </a:ext>
            </a:extLst>
          </p:cNvPr>
          <p:cNvSpPr>
            <a:spLocks noGrp="1"/>
          </p:cNvSpPr>
          <p:nvPr>
            <p:ph type="dt" sz="half" idx="10"/>
          </p:nvPr>
        </p:nvSpPr>
        <p:spPr/>
        <p:txBody>
          <a:bodyPr/>
          <a:lstStyle/>
          <a:p>
            <a:fld id="{D4019BAE-ED96-4194-A187-1DC6CE5F42E2}" type="datetimeFigureOut">
              <a:rPr lang="en-US" smtClean="0"/>
              <a:t>12/7/2025</a:t>
            </a:fld>
            <a:endParaRPr lang="en-US"/>
          </a:p>
        </p:txBody>
      </p:sp>
      <p:sp>
        <p:nvSpPr>
          <p:cNvPr id="5" name="Footer Placeholder 4">
            <a:extLst>
              <a:ext uri="{FF2B5EF4-FFF2-40B4-BE49-F238E27FC236}">
                <a16:creationId xmlns:a16="http://schemas.microsoft.com/office/drawing/2014/main" id="{22B0D98D-3028-63A8-FEF6-D1E63E7978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0CFCEB-4608-91C8-1CFF-4DDDCB409F71}"/>
              </a:ext>
            </a:extLst>
          </p:cNvPr>
          <p:cNvSpPr>
            <a:spLocks noGrp="1"/>
          </p:cNvSpPr>
          <p:nvPr>
            <p:ph type="sldNum" sz="quarter" idx="12"/>
          </p:nvPr>
        </p:nvSpPr>
        <p:spPr/>
        <p:txBody>
          <a:bodyPr/>
          <a:lstStyle/>
          <a:p>
            <a:fld id="{A896CD51-CFD0-4A8E-BEA2-E20902AE54C6}" type="slidenum">
              <a:rPr lang="en-US" smtClean="0"/>
              <a:t>‹#›</a:t>
            </a:fld>
            <a:endParaRPr lang="en-US"/>
          </a:p>
        </p:txBody>
      </p:sp>
    </p:spTree>
    <p:extLst>
      <p:ext uri="{BB962C8B-B14F-4D97-AF65-F5344CB8AC3E}">
        <p14:creationId xmlns:p14="http://schemas.microsoft.com/office/powerpoint/2010/main" val="2854993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F04F8-D909-9305-07DA-70A018591C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6A682C-B1F5-6473-B1AD-6724AEC3F9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E2987F-C9A1-FDF9-75C1-8DCC9277F71B}"/>
              </a:ext>
            </a:extLst>
          </p:cNvPr>
          <p:cNvSpPr>
            <a:spLocks noGrp="1"/>
          </p:cNvSpPr>
          <p:nvPr>
            <p:ph type="dt" sz="half" idx="10"/>
          </p:nvPr>
        </p:nvSpPr>
        <p:spPr/>
        <p:txBody>
          <a:bodyPr/>
          <a:lstStyle/>
          <a:p>
            <a:fld id="{D4019BAE-ED96-4194-A187-1DC6CE5F42E2}" type="datetimeFigureOut">
              <a:rPr lang="en-US" smtClean="0"/>
              <a:t>12/7/2025</a:t>
            </a:fld>
            <a:endParaRPr lang="en-US"/>
          </a:p>
        </p:txBody>
      </p:sp>
      <p:sp>
        <p:nvSpPr>
          <p:cNvPr id="5" name="Footer Placeholder 4">
            <a:extLst>
              <a:ext uri="{FF2B5EF4-FFF2-40B4-BE49-F238E27FC236}">
                <a16:creationId xmlns:a16="http://schemas.microsoft.com/office/drawing/2014/main" id="{DC673370-270E-CD9D-DE37-5CF737118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9E12EF-02F2-345A-D411-BCD6D155A801}"/>
              </a:ext>
            </a:extLst>
          </p:cNvPr>
          <p:cNvSpPr>
            <a:spLocks noGrp="1"/>
          </p:cNvSpPr>
          <p:nvPr>
            <p:ph type="sldNum" sz="quarter" idx="12"/>
          </p:nvPr>
        </p:nvSpPr>
        <p:spPr/>
        <p:txBody>
          <a:bodyPr/>
          <a:lstStyle/>
          <a:p>
            <a:fld id="{A896CD51-CFD0-4A8E-BEA2-E20902AE54C6}" type="slidenum">
              <a:rPr lang="en-US" smtClean="0"/>
              <a:t>‹#›</a:t>
            </a:fld>
            <a:endParaRPr lang="en-US"/>
          </a:p>
        </p:txBody>
      </p:sp>
    </p:spTree>
    <p:extLst>
      <p:ext uri="{BB962C8B-B14F-4D97-AF65-F5344CB8AC3E}">
        <p14:creationId xmlns:p14="http://schemas.microsoft.com/office/powerpoint/2010/main" val="3041971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8C354-6608-EBE4-FEDC-D49D3CE14C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5B9D26-38E5-C769-42BC-EFFC7B74F1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D6715A-2511-83AE-A5F1-B79DC3C383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C51E30-A0DB-16DD-3E04-25BAEB8DF1A1}"/>
              </a:ext>
            </a:extLst>
          </p:cNvPr>
          <p:cNvSpPr>
            <a:spLocks noGrp="1"/>
          </p:cNvSpPr>
          <p:nvPr>
            <p:ph type="dt" sz="half" idx="10"/>
          </p:nvPr>
        </p:nvSpPr>
        <p:spPr/>
        <p:txBody>
          <a:bodyPr/>
          <a:lstStyle/>
          <a:p>
            <a:fld id="{D4019BAE-ED96-4194-A187-1DC6CE5F42E2}" type="datetimeFigureOut">
              <a:rPr lang="en-US" smtClean="0"/>
              <a:t>12/7/2025</a:t>
            </a:fld>
            <a:endParaRPr lang="en-US"/>
          </a:p>
        </p:txBody>
      </p:sp>
      <p:sp>
        <p:nvSpPr>
          <p:cNvPr id="6" name="Footer Placeholder 5">
            <a:extLst>
              <a:ext uri="{FF2B5EF4-FFF2-40B4-BE49-F238E27FC236}">
                <a16:creationId xmlns:a16="http://schemas.microsoft.com/office/drawing/2014/main" id="{CF77BE8C-E0C3-6825-3F96-33EC5C2259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F49BFF-CB20-2FAF-2477-4763B44F3455}"/>
              </a:ext>
            </a:extLst>
          </p:cNvPr>
          <p:cNvSpPr>
            <a:spLocks noGrp="1"/>
          </p:cNvSpPr>
          <p:nvPr>
            <p:ph type="sldNum" sz="quarter" idx="12"/>
          </p:nvPr>
        </p:nvSpPr>
        <p:spPr/>
        <p:txBody>
          <a:bodyPr/>
          <a:lstStyle/>
          <a:p>
            <a:fld id="{A896CD51-CFD0-4A8E-BEA2-E20902AE54C6}" type="slidenum">
              <a:rPr lang="en-US" smtClean="0"/>
              <a:t>‹#›</a:t>
            </a:fld>
            <a:endParaRPr lang="en-US"/>
          </a:p>
        </p:txBody>
      </p:sp>
    </p:spTree>
    <p:extLst>
      <p:ext uri="{BB962C8B-B14F-4D97-AF65-F5344CB8AC3E}">
        <p14:creationId xmlns:p14="http://schemas.microsoft.com/office/powerpoint/2010/main" val="3303559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A6C63-2C70-E58F-D4D0-380D608BE3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81CDBE-B1D7-F070-5F09-4851FD5E59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D22D33-E7D0-9788-AC9D-8D8918D72F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5251A4-407A-A717-9792-A3F13867D1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18C6F6-B887-9180-3408-FEE9D9C290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018782-73AB-926D-95B6-01AEFFD08E4E}"/>
              </a:ext>
            </a:extLst>
          </p:cNvPr>
          <p:cNvSpPr>
            <a:spLocks noGrp="1"/>
          </p:cNvSpPr>
          <p:nvPr>
            <p:ph type="dt" sz="half" idx="10"/>
          </p:nvPr>
        </p:nvSpPr>
        <p:spPr/>
        <p:txBody>
          <a:bodyPr/>
          <a:lstStyle/>
          <a:p>
            <a:fld id="{D4019BAE-ED96-4194-A187-1DC6CE5F42E2}" type="datetimeFigureOut">
              <a:rPr lang="en-US" smtClean="0"/>
              <a:t>12/7/2025</a:t>
            </a:fld>
            <a:endParaRPr lang="en-US"/>
          </a:p>
        </p:txBody>
      </p:sp>
      <p:sp>
        <p:nvSpPr>
          <p:cNvPr id="8" name="Footer Placeholder 7">
            <a:extLst>
              <a:ext uri="{FF2B5EF4-FFF2-40B4-BE49-F238E27FC236}">
                <a16:creationId xmlns:a16="http://schemas.microsoft.com/office/drawing/2014/main" id="{4C4049B4-228D-9507-237A-B07DD8F96E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F43F8A-08DF-2A30-8C40-1D93E6BFD665}"/>
              </a:ext>
            </a:extLst>
          </p:cNvPr>
          <p:cNvSpPr>
            <a:spLocks noGrp="1"/>
          </p:cNvSpPr>
          <p:nvPr>
            <p:ph type="sldNum" sz="quarter" idx="12"/>
          </p:nvPr>
        </p:nvSpPr>
        <p:spPr/>
        <p:txBody>
          <a:bodyPr/>
          <a:lstStyle/>
          <a:p>
            <a:fld id="{A896CD51-CFD0-4A8E-BEA2-E20902AE54C6}" type="slidenum">
              <a:rPr lang="en-US" smtClean="0"/>
              <a:t>‹#›</a:t>
            </a:fld>
            <a:endParaRPr lang="en-US"/>
          </a:p>
        </p:txBody>
      </p:sp>
    </p:spTree>
    <p:extLst>
      <p:ext uri="{BB962C8B-B14F-4D97-AF65-F5344CB8AC3E}">
        <p14:creationId xmlns:p14="http://schemas.microsoft.com/office/powerpoint/2010/main" val="1164830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9D04E-790D-D9FE-42A7-AC3529962C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4A1D70-449A-D298-19D0-54C56E59D638}"/>
              </a:ext>
            </a:extLst>
          </p:cNvPr>
          <p:cNvSpPr>
            <a:spLocks noGrp="1"/>
          </p:cNvSpPr>
          <p:nvPr>
            <p:ph type="dt" sz="half" idx="10"/>
          </p:nvPr>
        </p:nvSpPr>
        <p:spPr/>
        <p:txBody>
          <a:bodyPr/>
          <a:lstStyle/>
          <a:p>
            <a:fld id="{D4019BAE-ED96-4194-A187-1DC6CE5F42E2}" type="datetimeFigureOut">
              <a:rPr lang="en-US" smtClean="0"/>
              <a:t>12/7/2025</a:t>
            </a:fld>
            <a:endParaRPr lang="en-US"/>
          </a:p>
        </p:txBody>
      </p:sp>
      <p:sp>
        <p:nvSpPr>
          <p:cNvPr id="4" name="Footer Placeholder 3">
            <a:extLst>
              <a:ext uri="{FF2B5EF4-FFF2-40B4-BE49-F238E27FC236}">
                <a16:creationId xmlns:a16="http://schemas.microsoft.com/office/drawing/2014/main" id="{42E72485-8612-CDDC-D55D-FB9B2B8287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DD4CF3-49ED-ECBD-4388-9A98EE1F003B}"/>
              </a:ext>
            </a:extLst>
          </p:cNvPr>
          <p:cNvSpPr>
            <a:spLocks noGrp="1"/>
          </p:cNvSpPr>
          <p:nvPr>
            <p:ph type="sldNum" sz="quarter" idx="12"/>
          </p:nvPr>
        </p:nvSpPr>
        <p:spPr/>
        <p:txBody>
          <a:bodyPr/>
          <a:lstStyle/>
          <a:p>
            <a:fld id="{A896CD51-CFD0-4A8E-BEA2-E20902AE54C6}" type="slidenum">
              <a:rPr lang="en-US" smtClean="0"/>
              <a:t>‹#›</a:t>
            </a:fld>
            <a:endParaRPr lang="en-US"/>
          </a:p>
        </p:txBody>
      </p:sp>
    </p:spTree>
    <p:extLst>
      <p:ext uri="{BB962C8B-B14F-4D97-AF65-F5344CB8AC3E}">
        <p14:creationId xmlns:p14="http://schemas.microsoft.com/office/powerpoint/2010/main" val="1975532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645DE5-F3B7-F802-EFDE-F78292349635}"/>
              </a:ext>
            </a:extLst>
          </p:cNvPr>
          <p:cNvSpPr>
            <a:spLocks noGrp="1"/>
          </p:cNvSpPr>
          <p:nvPr>
            <p:ph type="dt" sz="half" idx="10"/>
          </p:nvPr>
        </p:nvSpPr>
        <p:spPr/>
        <p:txBody>
          <a:bodyPr/>
          <a:lstStyle/>
          <a:p>
            <a:fld id="{D4019BAE-ED96-4194-A187-1DC6CE5F42E2}" type="datetimeFigureOut">
              <a:rPr lang="en-US" smtClean="0"/>
              <a:t>12/7/2025</a:t>
            </a:fld>
            <a:endParaRPr lang="en-US"/>
          </a:p>
        </p:txBody>
      </p:sp>
      <p:sp>
        <p:nvSpPr>
          <p:cNvPr id="3" name="Footer Placeholder 2">
            <a:extLst>
              <a:ext uri="{FF2B5EF4-FFF2-40B4-BE49-F238E27FC236}">
                <a16:creationId xmlns:a16="http://schemas.microsoft.com/office/drawing/2014/main" id="{D54BAC1E-37CB-7F70-F12B-43260A22E3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E01326-16F1-AE09-7913-D501C1C52AB0}"/>
              </a:ext>
            </a:extLst>
          </p:cNvPr>
          <p:cNvSpPr>
            <a:spLocks noGrp="1"/>
          </p:cNvSpPr>
          <p:nvPr>
            <p:ph type="sldNum" sz="quarter" idx="12"/>
          </p:nvPr>
        </p:nvSpPr>
        <p:spPr/>
        <p:txBody>
          <a:bodyPr/>
          <a:lstStyle/>
          <a:p>
            <a:fld id="{A896CD51-CFD0-4A8E-BEA2-E20902AE54C6}" type="slidenum">
              <a:rPr lang="en-US" smtClean="0"/>
              <a:t>‹#›</a:t>
            </a:fld>
            <a:endParaRPr lang="en-US"/>
          </a:p>
        </p:txBody>
      </p:sp>
    </p:spTree>
    <p:extLst>
      <p:ext uri="{BB962C8B-B14F-4D97-AF65-F5344CB8AC3E}">
        <p14:creationId xmlns:p14="http://schemas.microsoft.com/office/powerpoint/2010/main" val="1572353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F499C-D5BF-B656-478C-8E7013BAFC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243F79-DDA8-0D85-44E5-4BC88E814A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43FC52-E763-A879-9664-3BF193A0B7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873759-E52D-E632-C99A-824E3BCEFE36}"/>
              </a:ext>
            </a:extLst>
          </p:cNvPr>
          <p:cNvSpPr>
            <a:spLocks noGrp="1"/>
          </p:cNvSpPr>
          <p:nvPr>
            <p:ph type="dt" sz="half" idx="10"/>
          </p:nvPr>
        </p:nvSpPr>
        <p:spPr/>
        <p:txBody>
          <a:bodyPr/>
          <a:lstStyle/>
          <a:p>
            <a:fld id="{D4019BAE-ED96-4194-A187-1DC6CE5F42E2}" type="datetimeFigureOut">
              <a:rPr lang="en-US" smtClean="0"/>
              <a:t>12/7/2025</a:t>
            </a:fld>
            <a:endParaRPr lang="en-US"/>
          </a:p>
        </p:txBody>
      </p:sp>
      <p:sp>
        <p:nvSpPr>
          <p:cNvPr id="6" name="Footer Placeholder 5">
            <a:extLst>
              <a:ext uri="{FF2B5EF4-FFF2-40B4-BE49-F238E27FC236}">
                <a16:creationId xmlns:a16="http://schemas.microsoft.com/office/drawing/2014/main" id="{7B1872B8-B3F4-7C05-C11B-BA50F3A665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32661A-2FB4-D1B7-DC0A-BF88B1E5903B}"/>
              </a:ext>
            </a:extLst>
          </p:cNvPr>
          <p:cNvSpPr>
            <a:spLocks noGrp="1"/>
          </p:cNvSpPr>
          <p:nvPr>
            <p:ph type="sldNum" sz="quarter" idx="12"/>
          </p:nvPr>
        </p:nvSpPr>
        <p:spPr/>
        <p:txBody>
          <a:bodyPr/>
          <a:lstStyle/>
          <a:p>
            <a:fld id="{A896CD51-CFD0-4A8E-BEA2-E20902AE54C6}" type="slidenum">
              <a:rPr lang="en-US" smtClean="0"/>
              <a:t>‹#›</a:t>
            </a:fld>
            <a:endParaRPr lang="en-US"/>
          </a:p>
        </p:txBody>
      </p:sp>
    </p:spTree>
    <p:extLst>
      <p:ext uri="{BB962C8B-B14F-4D97-AF65-F5344CB8AC3E}">
        <p14:creationId xmlns:p14="http://schemas.microsoft.com/office/powerpoint/2010/main" val="2747891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C9C4E-7AFA-8562-9BA3-0B861D74EF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4941B7-21F0-6545-135D-0F64CB3B7D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2E674B-16B6-134E-79B8-CBE991777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AF3D45-455A-4FBC-31FE-3735DB0D2D75}"/>
              </a:ext>
            </a:extLst>
          </p:cNvPr>
          <p:cNvSpPr>
            <a:spLocks noGrp="1"/>
          </p:cNvSpPr>
          <p:nvPr>
            <p:ph type="dt" sz="half" idx="10"/>
          </p:nvPr>
        </p:nvSpPr>
        <p:spPr/>
        <p:txBody>
          <a:bodyPr/>
          <a:lstStyle/>
          <a:p>
            <a:fld id="{D4019BAE-ED96-4194-A187-1DC6CE5F42E2}" type="datetimeFigureOut">
              <a:rPr lang="en-US" smtClean="0"/>
              <a:t>12/7/2025</a:t>
            </a:fld>
            <a:endParaRPr lang="en-US"/>
          </a:p>
        </p:txBody>
      </p:sp>
      <p:sp>
        <p:nvSpPr>
          <p:cNvPr id="6" name="Footer Placeholder 5">
            <a:extLst>
              <a:ext uri="{FF2B5EF4-FFF2-40B4-BE49-F238E27FC236}">
                <a16:creationId xmlns:a16="http://schemas.microsoft.com/office/drawing/2014/main" id="{3AB069E8-1D25-7D62-891F-08F4CCA325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48CB76-B64F-B6DD-DA80-BF3002F32B9F}"/>
              </a:ext>
            </a:extLst>
          </p:cNvPr>
          <p:cNvSpPr>
            <a:spLocks noGrp="1"/>
          </p:cNvSpPr>
          <p:nvPr>
            <p:ph type="sldNum" sz="quarter" idx="12"/>
          </p:nvPr>
        </p:nvSpPr>
        <p:spPr/>
        <p:txBody>
          <a:bodyPr/>
          <a:lstStyle/>
          <a:p>
            <a:fld id="{A896CD51-CFD0-4A8E-BEA2-E20902AE54C6}" type="slidenum">
              <a:rPr lang="en-US" smtClean="0"/>
              <a:t>‹#›</a:t>
            </a:fld>
            <a:endParaRPr lang="en-US"/>
          </a:p>
        </p:txBody>
      </p:sp>
    </p:spTree>
    <p:extLst>
      <p:ext uri="{BB962C8B-B14F-4D97-AF65-F5344CB8AC3E}">
        <p14:creationId xmlns:p14="http://schemas.microsoft.com/office/powerpoint/2010/main" val="2602495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699C-4DBE-D201-11A9-4E6F3D1DE8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FEC174-F6E7-B953-9186-93D4728E01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ABFAD-98C7-5519-4829-858788EF3B69}"/>
              </a:ext>
            </a:extLst>
          </p:cNvPr>
          <p:cNvSpPr>
            <a:spLocks noGrp="1"/>
          </p:cNvSpPr>
          <p:nvPr>
            <p:ph type="dt" sz="half" idx="10"/>
          </p:nvPr>
        </p:nvSpPr>
        <p:spPr/>
        <p:txBody>
          <a:bodyPr/>
          <a:lstStyle/>
          <a:p>
            <a:fld id="{D4019BAE-ED96-4194-A187-1DC6CE5F42E2}" type="datetimeFigureOut">
              <a:rPr lang="en-US" smtClean="0"/>
              <a:t>12/7/2025</a:t>
            </a:fld>
            <a:endParaRPr lang="en-US"/>
          </a:p>
        </p:txBody>
      </p:sp>
      <p:sp>
        <p:nvSpPr>
          <p:cNvPr id="5" name="Footer Placeholder 4">
            <a:extLst>
              <a:ext uri="{FF2B5EF4-FFF2-40B4-BE49-F238E27FC236}">
                <a16:creationId xmlns:a16="http://schemas.microsoft.com/office/drawing/2014/main" id="{FA54E7EF-AAAA-4DA4-6614-A683348E3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523FED-C94B-4B06-6E41-2A04E69A4AE4}"/>
              </a:ext>
            </a:extLst>
          </p:cNvPr>
          <p:cNvSpPr>
            <a:spLocks noGrp="1"/>
          </p:cNvSpPr>
          <p:nvPr>
            <p:ph type="sldNum" sz="quarter" idx="12"/>
          </p:nvPr>
        </p:nvSpPr>
        <p:spPr/>
        <p:txBody>
          <a:bodyPr/>
          <a:lstStyle/>
          <a:p>
            <a:fld id="{A896CD51-CFD0-4A8E-BEA2-E20902AE54C6}" type="slidenum">
              <a:rPr lang="en-US" smtClean="0"/>
              <a:t>‹#›</a:t>
            </a:fld>
            <a:endParaRPr lang="en-US"/>
          </a:p>
        </p:txBody>
      </p:sp>
    </p:spTree>
    <p:extLst>
      <p:ext uri="{BB962C8B-B14F-4D97-AF65-F5344CB8AC3E}">
        <p14:creationId xmlns:p14="http://schemas.microsoft.com/office/powerpoint/2010/main" val="3998298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83F16C-EF89-A041-2D7A-8066E07A411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83021E-1AD9-116D-29D7-4D8EBA8FDA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C5A3D2-B424-43F2-A73E-7B165B218467}"/>
              </a:ext>
            </a:extLst>
          </p:cNvPr>
          <p:cNvSpPr>
            <a:spLocks noGrp="1"/>
          </p:cNvSpPr>
          <p:nvPr>
            <p:ph type="dt" sz="half" idx="10"/>
          </p:nvPr>
        </p:nvSpPr>
        <p:spPr/>
        <p:txBody>
          <a:bodyPr/>
          <a:lstStyle/>
          <a:p>
            <a:fld id="{D4019BAE-ED96-4194-A187-1DC6CE5F42E2}" type="datetimeFigureOut">
              <a:rPr lang="en-US" smtClean="0"/>
              <a:t>12/7/2025</a:t>
            </a:fld>
            <a:endParaRPr lang="en-US"/>
          </a:p>
        </p:txBody>
      </p:sp>
      <p:sp>
        <p:nvSpPr>
          <p:cNvPr id="5" name="Footer Placeholder 4">
            <a:extLst>
              <a:ext uri="{FF2B5EF4-FFF2-40B4-BE49-F238E27FC236}">
                <a16:creationId xmlns:a16="http://schemas.microsoft.com/office/drawing/2014/main" id="{812EE020-E218-9C27-F64D-AFC1502880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737B21-5A56-533E-3EA8-4D2BEE2A4CA8}"/>
              </a:ext>
            </a:extLst>
          </p:cNvPr>
          <p:cNvSpPr>
            <a:spLocks noGrp="1"/>
          </p:cNvSpPr>
          <p:nvPr>
            <p:ph type="sldNum" sz="quarter" idx="12"/>
          </p:nvPr>
        </p:nvSpPr>
        <p:spPr/>
        <p:txBody>
          <a:bodyPr/>
          <a:lstStyle/>
          <a:p>
            <a:fld id="{A896CD51-CFD0-4A8E-BEA2-E20902AE54C6}" type="slidenum">
              <a:rPr lang="en-US" smtClean="0"/>
              <a:t>‹#›</a:t>
            </a:fld>
            <a:endParaRPr lang="en-US"/>
          </a:p>
        </p:txBody>
      </p:sp>
    </p:spTree>
    <p:extLst>
      <p:ext uri="{BB962C8B-B14F-4D97-AF65-F5344CB8AC3E}">
        <p14:creationId xmlns:p14="http://schemas.microsoft.com/office/powerpoint/2010/main" val="1225253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271FA6-1FA9-D7A1-1404-0AA2715F16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6AD9F0-2C2D-6A7F-7E1C-5EEDF0D693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D76B13-0A43-21C4-5541-E407EF0783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019BAE-ED96-4194-A187-1DC6CE5F42E2}" type="datetimeFigureOut">
              <a:rPr lang="en-US" smtClean="0"/>
              <a:t>12/7/2025</a:t>
            </a:fld>
            <a:endParaRPr lang="en-US"/>
          </a:p>
        </p:txBody>
      </p:sp>
      <p:sp>
        <p:nvSpPr>
          <p:cNvPr id="5" name="Footer Placeholder 4">
            <a:extLst>
              <a:ext uri="{FF2B5EF4-FFF2-40B4-BE49-F238E27FC236}">
                <a16:creationId xmlns:a16="http://schemas.microsoft.com/office/drawing/2014/main" id="{1D447061-BC8F-22B3-6636-BBFD61C43A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ABB8A86-7562-1A86-42D3-5E49A59351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96CD51-CFD0-4A8E-BEA2-E20902AE54C6}" type="slidenum">
              <a:rPr lang="en-US" smtClean="0"/>
              <a:t>‹#›</a:t>
            </a:fld>
            <a:endParaRPr lang="en-US"/>
          </a:p>
        </p:txBody>
      </p:sp>
    </p:spTree>
    <p:extLst>
      <p:ext uri="{BB962C8B-B14F-4D97-AF65-F5344CB8AC3E}">
        <p14:creationId xmlns:p14="http://schemas.microsoft.com/office/powerpoint/2010/main" val="1236609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D703A-0BA0-3062-7975-198ABE5C0137}"/>
              </a:ext>
            </a:extLst>
          </p:cNvPr>
          <p:cNvSpPr>
            <a:spLocks noGrp="1"/>
          </p:cNvSpPr>
          <p:nvPr>
            <p:ph type="ctrTitle"/>
          </p:nvPr>
        </p:nvSpPr>
        <p:spPr/>
        <p:txBody>
          <a:bodyPr>
            <a:normAutofit fontScale="90000"/>
          </a:bodyPr>
          <a:lstStyle/>
          <a:p>
            <a:r>
              <a:rPr lang="en-US" dirty="0"/>
              <a:t>Detecting Fake vs. Real News Using SVM and Word Clouds</a:t>
            </a:r>
            <a:br>
              <a:rPr lang="en-US" dirty="0"/>
            </a:br>
            <a:endParaRPr lang="en-US" dirty="0"/>
          </a:p>
        </p:txBody>
      </p:sp>
      <p:sp>
        <p:nvSpPr>
          <p:cNvPr id="3" name="Subtitle 2">
            <a:extLst>
              <a:ext uri="{FF2B5EF4-FFF2-40B4-BE49-F238E27FC236}">
                <a16:creationId xmlns:a16="http://schemas.microsoft.com/office/drawing/2014/main" id="{174DA970-4587-B633-3C12-90284E649FC6}"/>
              </a:ext>
            </a:extLst>
          </p:cNvPr>
          <p:cNvSpPr>
            <a:spLocks noGrp="1"/>
          </p:cNvSpPr>
          <p:nvPr>
            <p:ph type="subTitle" idx="1"/>
          </p:nvPr>
        </p:nvSpPr>
        <p:spPr/>
        <p:txBody>
          <a:bodyPr/>
          <a:lstStyle/>
          <a:p>
            <a:r>
              <a:rPr lang="en-US" dirty="0"/>
              <a:t>LIS 4761 Intro to Data and Text Mining</a:t>
            </a:r>
          </a:p>
        </p:txBody>
      </p:sp>
    </p:spTree>
    <p:extLst>
      <p:ext uri="{BB962C8B-B14F-4D97-AF65-F5344CB8AC3E}">
        <p14:creationId xmlns:p14="http://schemas.microsoft.com/office/powerpoint/2010/main" val="4235258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5ABA2-4EDA-A2C1-86FD-AB243C4B0E00}"/>
              </a:ext>
            </a:extLst>
          </p:cNvPr>
          <p:cNvSpPr>
            <a:spLocks noGrp="1"/>
          </p:cNvSpPr>
          <p:nvPr>
            <p:ph type="title"/>
          </p:nvPr>
        </p:nvSpPr>
        <p:spPr/>
        <p:txBody>
          <a:bodyPr/>
          <a:lstStyle/>
          <a:p>
            <a:pPr algn="ctr"/>
            <a:r>
              <a:rPr lang="en-US" b="1" dirty="0"/>
              <a:t>Contributors</a:t>
            </a:r>
            <a:endParaRPr lang="en-US" dirty="0"/>
          </a:p>
        </p:txBody>
      </p:sp>
      <p:sp>
        <p:nvSpPr>
          <p:cNvPr id="3" name="Content Placeholder 2">
            <a:extLst>
              <a:ext uri="{FF2B5EF4-FFF2-40B4-BE49-F238E27FC236}">
                <a16:creationId xmlns:a16="http://schemas.microsoft.com/office/drawing/2014/main" id="{F69CB16E-38A5-6F2D-FA36-98CD986CB088}"/>
              </a:ext>
            </a:extLst>
          </p:cNvPr>
          <p:cNvSpPr>
            <a:spLocks noGrp="1"/>
          </p:cNvSpPr>
          <p:nvPr>
            <p:ph idx="1"/>
          </p:nvPr>
        </p:nvSpPr>
        <p:spPr/>
        <p:txBody>
          <a:bodyPr/>
          <a:lstStyle/>
          <a:p>
            <a:r>
              <a:rPr lang="en-US" dirty="0"/>
              <a:t>Patrick Aabram – Project Manager</a:t>
            </a:r>
          </a:p>
          <a:p>
            <a:r>
              <a:rPr lang="en-US" dirty="0"/>
              <a:t>Christine Jacob – Data Engineer</a:t>
            </a:r>
          </a:p>
          <a:p>
            <a:r>
              <a:rPr lang="en-US" dirty="0"/>
              <a:t>Colin Holm – Additional Data Engineer/Text Mining Analyst</a:t>
            </a:r>
          </a:p>
          <a:p>
            <a:r>
              <a:rPr lang="en-US" dirty="0"/>
              <a:t>Omar </a:t>
            </a:r>
            <a:r>
              <a:rPr lang="en-US" dirty="0" err="1"/>
              <a:t>Eltannir</a:t>
            </a:r>
            <a:r>
              <a:rPr lang="en-US" dirty="0"/>
              <a:t> – Text Mining Analyst</a:t>
            </a:r>
          </a:p>
          <a:p>
            <a:r>
              <a:rPr lang="en-US" dirty="0"/>
              <a:t>Zachary Wright – Visualization and Reporting Lead</a:t>
            </a:r>
          </a:p>
          <a:p>
            <a:endParaRPr lang="en-US" dirty="0"/>
          </a:p>
        </p:txBody>
      </p:sp>
    </p:spTree>
    <p:extLst>
      <p:ext uri="{BB962C8B-B14F-4D97-AF65-F5344CB8AC3E}">
        <p14:creationId xmlns:p14="http://schemas.microsoft.com/office/powerpoint/2010/main" val="3988896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94BDF-55CC-DAA7-B9A2-4FEB4619977E}"/>
              </a:ext>
            </a:extLst>
          </p:cNvPr>
          <p:cNvSpPr>
            <a:spLocks noGrp="1"/>
          </p:cNvSpPr>
          <p:nvPr>
            <p:ph type="title"/>
          </p:nvPr>
        </p:nvSpPr>
        <p:spPr/>
        <p:txBody>
          <a:bodyPr/>
          <a:lstStyle/>
          <a:p>
            <a:pPr algn="ctr"/>
            <a:r>
              <a:rPr lang="en-US" b="1" dirty="0"/>
              <a:t>Goal</a:t>
            </a:r>
            <a:endParaRPr lang="en-US" dirty="0"/>
          </a:p>
        </p:txBody>
      </p:sp>
      <p:sp>
        <p:nvSpPr>
          <p:cNvPr id="3" name="Content Placeholder 2">
            <a:extLst>
              <a:ext uri="{FF2B5EF4-FFF2-40B4-BE49-F238E27FC236}">
                <a16:creationId xmlns:a16="http://schemas.microsoft.com/office/drawing/2014/main" id="{054AF8C0-47D6-5DD5-7999-FDB4AC649B7C}"/>
              </a:ext>
            </a:extLst>
          </p:cNvPr>
          <p:cNvSpPr>
            <a:spLocks noGrp="1"/>
          </p:cNvSpPr>
          <p:nvPr>
            <p:ph idx="1"/>
          </p:nvPr>
        </p:nvSpPr>
        <p:spPr/>
        <p:txBody>
          <a:bodyPr/>
          <a:lstStyle/>
          <a:p>
            <a:pPr algn="ctr"/>
            <a:r>
              <a:rPr lang="en-US" dirty="0"/>
              <a:t>Our aim is to develop a model which can reliably differentiate fake news articles from legitimate ones. We will also investigate the qualities of these fake articles, determining what associations and sentiments dominate their content with the goal of equipping readers to better identify fake articles by these standards. </a:t>
            </a:r>
          </a:p>
          <a:p>
            <a:endParaRPr lang="en-US" dirty="0"/>
          </a:p>
        </p:txBody>
      </p:sp>
    </p:spTree>
    <p:extLst>
      <p:ext uri="{BB962C8B-B14F-4D97-AF65-F5344CB8AC3E}">
        <p14:creationId xmlns:p14="http://schemas.microsoft.com/office/powerpoint/2010/main" val="4266833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9823C-7635-D726-1945-2977C7ED3410}"/>
              </a:ext>
            </a:extLst>
          </p:cNvPr>
          <p:cNvSpPr>
            <a:spLocks noGrp="1"/>
          </p:cNvSpPr>
          <p:nvPr>
            <p:ph type="title"/>
          </p:nvPr>
        </p:nvSpPr>
        <p:spPr/>
        <p:txBody>
          <a:bodyPr/>
          <a:lstStyle/>
          <a:p>
            <a:pPr algn="ctr"/>
            <a:r>
              <a:rPr lang="en-US" dirty="0"/>
              <a:t>Why Fake News Detection Matters</a:t>
            </a:r>
          </a:p>
        </p:txBody>
      </p:sp>
      <p:sp>
        <p:nvSpPr>
          <p:cNvPr id="6" name="Rectangle 1">
            <a:extLst>
              <a:ext uri="{FF2B5EF4-FFF2-40B4-BE49-F238E27FC236}">
                <a16:creationId xmlns:a16="http://schemas.microsoft.com/office/drawing/2014/main" id="{F6FB13EF-D122-B85F-318E-F068B658174A}"/>
              </a:ext>
            </a:extLst>
          </p:cNvPr>
          <p:cNvSpPr>
            <a:spLocks noGrp="1" noChangeArrowheads="1"/>
          </p:cNvSpPr>
          <p:nvPr>
            <p:ph idx="1"/>
          </p:nvPr>
        </p:nvSpPr>
        <p:spPr bwMode="auto">
          <a:xfrm>
            <a:off x="2252640" y="2430973"/>
            <a:ext cx="768672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rise of misinformation online</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Impacts on public opinion, politics, and society</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Need for automated detection methods</a:t>
            </a:r>
          </a:p>
        </p:txBody>
      </p:sp>
    </p:spTree>
    <p:extLst>
      <p:ext uri="{BB962C8B-B14F-4D97-AF65-F5344CB8AC3E}">
        <p14:creationId xmlns:p14="http://schemas.microsoft.com/office/powerpoint/2010/main" val="4137871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0515C-6ACC-1E46-CF0A-23120EC597B3}"/>
              </a:ext>
            </a:extLst>
          </p:cNvPr>
          <p:cNvSpPr>
            <a:spLocks noGrp="1"/>
          </p:cNvSpPr>
          <p:nvPr>
            <p:ph type="title"/>
          </p:nvPr>
        </p:nvSpPr>
        <p:spPr/>
        <p:txBody>
          <a:bodyPr/>
          <a:lstStyle/>
          <a:p>
            <a:pPr algn="ctr"/>
            <a:r>
              <a:rPr lang="en-US" dirty="0"/>
              <a:t>Dataset used for Analysis</a:t>
            </a:r>
          </a:p>
        </p:txBody>
      </p:sp>
      <p:sp>
        <p:nvSpPr>
          <p:cNvPr id="3" name="Content Placeholder 2">
            <a:extLst>
              <a:ext uri="{FF2B5EF4-FFF2-40B4-BE49-F238E27FC236}">
                <a16:creationId xmlns:a16="http://schemas.microsoft.com/office/drawing/2014/main" id="{AAE06BDF-684F-5E53-E457-DE8F37C8E9B6}"/>
              </a:ext>
            </a:extLst>
          </p:cNvPr>
          <p:cNvSpPr>
            <a:spLocks noGrp="1"/>
          </p:cNvSpPr>
          <p:nvPr>
            <p:ph idx="1"/>
          </p:nvPr>
        </p:nvSpPr>
        <p:spPr/>
        <p:txBody>
          <a:bodyPr>
            <a:normAutofit lnSpcReduction="10000"/>
          </a:bodyPr>
          <a:lstStyle/>
          <a:p>
            <a:pPr algn="ctr" fontAlgn="base">
              <a:lnSpc>
                <a:spcPts val="3300"/>
              </a:lnSpc>
              <a:spcAft>
                <a:spcPts val="1200"/>
              </a:spcAft>
              <a:buNone/>
            </a:pPr>
            <a:r>
              <a:rPr lang="en-US" b="1" i="0" dirty="0">
                <a:solidFill>
                  <a:srgbClr val="202124"/>
                </a:solidFill>
                <a:effectLst/>
                <a:latin typeface="zeitung"/>
              </a:rPr>
              <a:t>fake-and-real-news-dataset</a:t>
            </a:r>
          </a:p>
          <a:p>
            <a:pPr algn="ctr" fontAlgn="base"/>
            <a:r>
              <a:rPr lang="en-US" dirty="0"/>
              <a:t>Dataset separated in two files:</a:t>
            </a:r>
          </a:p>
          <a:p>
            <a:pPr algn="ctr" fontAlgn="base"/>
            <a:r>
              <a:rPr lang="en-US" dirty="0"/>
              <a:t>Fake.csv (23502 fake news article)</a:t>
            </a:r>
          </a:p>
          <a:p>
            <a:pPr algn="ctr" fontAlgn="base"/>
            <a:r>
              <a:rPr lang="en-US" dirty="0"/>
              <a:t>True.csv (21417 true news article)</a:t>
            </a:r>
          </a:p>
          <a:p>
            <a:pPr>
              <a:buNone/>
            </a:pPr>
            <a:br>
              <a:rPr lang="en-US" dirty="0"/>
            </a:br>
            <a:endParaRPr lang="en-US" dirty="0"/>
          </a:p>
          <a:p>
            <a:pPr>
              <a:buNone/>
            </a:pPr>
            <a:endParaRPr lang="en-US" dirty="0"/>
          </a:p>
          <a:p>
            <a:pPr>
              <a:buNone/>
            </a:pPr>
            <a:r>
              <a:rPr lang="en-US" dirty="0"/>
              <a:t>https://www.kaggle.com/datasets/clmentbisaillon/fake-and-real-news-dataset</a:t>
            </a:r>
          </a:p>
        </p:txBody>
      </p:sp>
    </p:spTree>
    <p:extLst>
      <p:ext uri="{BB962C8B-B14F-4D97-AF65-F5344CB8AC3E}">
        <p14:creationId xmlns:p14="http://schemas.microsoft.com/office/powerpoint/2010/main" val="2758547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A2BB3-66F2-F8B8-079E-7C04CE296387}"/>
              </a:ext>
            </a:extLst>
          </p:cNvPr>
          <p:cNvSpPr>
            <a:spLocks noGrp="1"/>
          </p:cNvSpPr>
          <p:nvPr>
            <p:ph type="title"/>
          </p:nvPr>
        </p:nvSpPr>
        <p:spPr/>
        <p:txBody>
          <a:bodyPr/>
          <a:lstStyle/>
          <a:p>
            <a:pPr algn="ctr"/>
            <a:r>
              <a:rPr lang="en-US" dirty="0"/>
              <a:t>Sentiment Analysis</a:t>
            </a:r>
          </a:p>
        </p:txBody>
      </p:sp>
      <p:pic>
        <p:nvPicPr>
          <p:cNvPr id="7" name="Content Placeholder 6">
            <a:extLst>
              <a:ext uri="{FF2B5EF4-FFF2-40B4-BE49-F238E27FC236}">
                <a16:creationId xmlns:a16="http://schemas.microsoft.com/office/drawing/2014/main" id="{E240188F-CD4D-F8F1-FC59-32DBB82BB8F6}"/>
              </a:ext>
            </a:extLst>
          </p:cNvPr>
          <p:cNvPicPr>
            <a:picLocks noGrp="1" noChangeAspect="1"/>
          </p:cNvPicPr>
          <p:nvPr>
            <p:ph idx="1"/>
          </p:nvPr>
        </p:nvPicPr>
        <p:blipFill>
          <a:blip r:embed="rId2"/>
          <a:stretch>
            <a:fillRect/>
          </a:stretch>
        </p:blipFill>
        <p:spPr>
          <a:xfrm>
            <a:off x="2025190" y="1524387"/>
            <a:ext cx="3068018" cy="4962870"/>
          </a:xfrm>
          <a:prstGeom prst="rect">
            <a:avLst/>
          </a:prstGeom>
        </p:spPr>
      </p:pic>
      <p:pic>
        <p:nvPicPr>
          <p:cNvPr id="8" name="Picture 7">
            <a:extLst>
              <a:ext uri="{FF2B5EF4-FFF2-40B4-BE49-F238E27FC236}">
                <a16:creationId xmlns:a16="http://schemas.microsoft.com/office/drawing/2014/main" id="{F9949E33-00A9-2737-8997-A290915138A9}"/>
              </a:ext>
            </a:extLst>
          </p:cNvPr>
          <p:cNvPicPr>
            <a:picLocks noChangeAspect="1"/>
          </p:cNvPicPr>
          <p:nvPr/>
        </p:nvPicPr>
        <p:blipFill>
          <a:blip r:embed="rId3"/>
          <a:stretch>
            <a:fillRect/>
          </a:stretch>
        </p:blipFill>
        <p:spPr>
          <a:xfrm>
            <a:off x="7383576" y="1530004"/>
            <a:ext cx="3145574" cy="4962871"/>
          </a:xfrm>
          <a:prstGeom prst="rect">
            <a:avLst/>
          </a:prstGeom>
        </p:spPr>
      </p:pic>
    </p:spTree>
    <p:extLst>
      <p:ext uri="{BB962C8B-B14F-4D97-AF65-F5344CB8AC3E}">
        <p14:creationId xmlns:p14="http://schemas.microsoft.com/office/powerpoint/2010/main" val="1644872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7F8CF-52B1-0078-7A3F-1B9B2A686F36}"/>
              </a:ext>
            </a:extLst>
          </p:cNvPr>
          <p:cNvSpPr>
            <a:spLocks noGrp="1"/>
          </p:cNvSpPr>
          <p:nvPr>
            <p:ph type="title"/>
          </p:nvPr>
        </p:nvSpPr>
        <p:spPr/>
        <p:txBody>
          <a:bodyPr/>
          <a:lstStyle/>
          <a:p>
            <a:pPr algn="ctr"/>
            <a:r>
              <a:rPr lang="en-US" dirty="0"/>
              <a:t>support vector machine (SVM) </a:t>
            </a:r>
          </a:p>
        </p:txBody>
      </p:sp>
      <p:pic>
        <p:nvPicPr>
          <p:cNvPr id="4" name="Content Placeholder 3">
            <a:extLst>
              <a:ext uri="{FF2B5EF4-FFF2-40B4-BE49-F238E27FC236}">
                <a16:creationId xmlns:a16="http://schemas.microsoft.com/office/drawing/2014/main" id="{EA0B6EF8-975E-D53A-E381-F660F8D74998}"/>
              </a:ext>
            </a:extLst>
          </p:cNvPr>
          <p:cNvPicPr>
            <a:picLocks noGrp="1" noChangeAspect="1"/>
          </p:cNvPicPr>
          <p:nvPr>
            <p:ph idx="1"/>
          </p:nvPr>
        </p:nvPicPr>
        <p:blipFill>
          <a:blip r:embed="rId2"/>
          <a:stretch>
            <a:fillRect/>
          </a:stretch>
        </p:blipFill>
        <p:spPr>
          <a:xfrm>
            <a:off x="1258683" y="2077936"/>
            <a:ext cx="3255546" cy="1615580"/>
          </a:xfrm>
          <a:prstGeom prst="rect">
            <a:avLst/>
          </a:prstGeom>
        </p:spPr>
      </p:pic>
      <p:pic>
        <p:nvPicPr>
          <p:cNvPr id="5" name="Picture 4">
            <a:extLst>
              <a:ext uri="{FF2B5EF4-FFF2-40B4-BE49-F238E27FC236}">
                <a16:creationId xmlns:a16="http://schemas.microsoft.com/office/drawing/2014/main" id="{4CE7292C-59E2-FDDB-F292-C7F801575F37}"/>
              </a:ext>
            </a:extLst>
          </p:cNvPr>
          <p:cNvPicPr>
            <a:picLocks noChangeAspect="1"/>
          </p:cNvPicPr>
          <p:nvPr/>
        </p:nvPicPr>
        <p:blipFill>
          <a:blip r:embed="rId3"/>
          <a:stretch>
            <a:fillRect/>
          </a:stretch>
        </p:blipFill>
        <p:spPr>
          <a:xfrm>
            <a:off x="7224606" y="2077936"/>
            <a:ext cx="3373432" cy="1563759"/>
          </a:xfrm>
          <a:prstGeom prst="rect">
            <a:avLst/>
          </a:prstGeom>
        </p:spPr>
      </p:pic>
      <p:sp>
        <p:nvSpPr>
          <p:cNvPr id="7" name="TextBox 6">
            <a:extLst>
              <a:ext uri="{FF2B5EF4-FFF2-40B4-BE49-F238E27FC236}">
                <a16:creationId xmlns:a16="http://schemas.microsoft.com/office/drawing/2014/main" id="{08803F92-B192-16B2-0144-17CA3348AAF6}"/>
              </a:ext>
            </a:extLst>
          </p:cNvPr>
          <p:cNvSpPr txBox="1"/>
          <p:nvPr/>
        </p:nvSpPr>
        <p:spPr>
          <a:xfrm>
            <a:off x="541782" y="3819154"/>
            <a:ext cx="6094476" cy="261610"/>
          </a:xfrm>
          <a:prstGeom prst="rect">
            <a:avLst/>
          </a:prstGeom>
          <a:noFill/>
        </p:spPr>
        <p:txBody>
          <a:bodyPr wrap="square">
            <a:spAutoFit/>
          </a:bodyPr>
          <a:lstStyle/>
          <a:p>
            <a:pPr marL="0" marR="0" indent="228600">
              <a:spcAft>
                <a:spcPts val="800"/>
              </a:spcAft>
              <a:buNone/>
            </a:pPr>
            <a:r>
              <a:rPr lang="en-US" sz="1100" i="1" kern="100" dirty="0">
                <a:effectLst/>
                <a:latin typeface="Georgia" panose="02040502050405020303" pitchFamily="18" charset="0"/>
                <a:ea typeface="Aptos" panose="020B0004020202020204" pitchFamily="34" charset="0"/>
                <a:cs typeface="Times New Roman" panose="02020603050405020304" pitchFamily="18" charset="0"/>
              </a:rPr>
              <a:t>Words skewed most toward fake articles (strongly positive difference)</a:t>
            </a:r>
            <a:endParaRPr lang="en-US" sz="1200" kern="100" dirty="0">
              <a:effectLst/>
              <a:latin typeface="Georgia" panose="02040502050405020303" pitchFamily="18"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61ADCACE-FEC2-54E4-07B1-7CCCDB651F36}"/>
              </a:ext>
            </a:extLst>
          </p:cNvPr>
          <p:cNvSpPr txBox="1"/>
          <p:nvPr/>
        </p:nvSpPr>
        <p:spPr>
          <a:xfrm>
            <a:off x="6096000" y="3819154"/>
            <a:ext cx="6094476" cy="261610"/>
          </a:xfrm>
          <a:prstGeom prst="rect">
            <a:avLst/>
          </a:prstGeom>
          <a:noFill/>
        </p:spPr>
        <p:txBody>
          <a:bodyPr wrap="square">
            <a:spAutoFit/>
          </a:bodyPr>
          <a:lstStyle/>
          <a:p>
            <a:pPr marL="0" marR="0" indent="228600">
              <a:spcAft>
                <a:spcPts val="800"/>
              </a:spcAft>
              <a:buNone/>
            </a:pPr>
            <a:r>
              <a:rPr lang="en-US" sz="1100" i="1" kern="100" dirty="0">
                <a:effectLst/>
                <a:latin typeface="Georgia" panose="02040502050405020303" pitchFamily="18" charset="0"/>
                <a:ea typeface="Aptos" panose="020B0004020202020204" pitchFamily="34" charset="0"/>
                <a:cs typeface="Times New Roman" panose="02020603050405020304" pitchFamily="18" charset="0"/>
              </a:rPr>
              <a:t>Words skewed most toward legitimate articles (strongly negative difference)</a:t>
            </a:r>
            <a:endParaRPr lang="en-US" sz="1200" kern="100" dirty="0">
              <a:effectLst/>
              <a:latin typeface="Georgia" panose="02040502050405020303"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81322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EF5BC-E35F-DC73-3215-5204298BE7EB}"/>
              </a:ext>
            </a:extLst>
          </p:cNvPr>
          <p:cNvSpPr>
            <a:spLocks noGrp="1"/>
          </p:cNvSpPr>
          <p:nvPr>
            <p:ph type="title"/>
          </p:nvPr>
        </p:nvSpPr>
        <p:spPr/>
        <p:txBody>
          <a:bodyPr/>
          <a:lstStyle/>
          <a:p>
            <a:pPr algn="ctr"/>
            <a:r>
              <a:rPr lang="en-US" dirty="0"/>
              <a:t>Most used words</a:t>
            </a:r>
          </a:p>
        </p:txBody>
      </p:sp>
      <p:pic>
        <p:nvPicPr>
          <p:cNvPr id="5" name="Content Placeholder 4">
            <a:extLst>
              <a:ext uri="{FF2B5EF4-FFF2-40B4-BE49-F238E27FC236}">
                <a16:creationId xmlns:a16="http://schemas.microsoft.com/office/drawing/2014/main" id="{45749657-39D4-17DC-1193-77DDDC771B15}"/>
              </a:ext>
            </a:extLst>
          </p:cNvPr>
          <p:cNvPicPr>
            <a:picLocks noGrp="1" noChangeAspect="1"/>
          </p:cNvPicPr>
          <p:nvPr>
            <p:ph idx="1"/>
          </p:nvPr>
        </p:nvPicPr>
        <p:blipFill>
          <a:blip r:embed="rId2"/>
          <a:stretch>
            <a:fillRect/>
          </a:stretch>
        </p:blipFill>
        <p:spPr>
          <a:xfrm>
            <a:off x="1865437" y="1896734"/>
            <a:ext cx="1857634" cy="4248743"/>
          </a:xfrm>
          <a:prstGeom prst="rect">
            <a:avLst/>
          </a:prstGeom>
        </p:spPr>
      </p:pic>
      <p:pic>
        <p:nvPicPr>
          <p:cNvPr id="7" name="Picture 6">
            <a:extLst>
              <a:ext uri="{FF2B5EF4-FFF2-40B4-BE49-F238E27FC236}">
                <a16:creationId xmlns:a16="http://schemas.microsoft.com/office/drawing/2014/main" id="{78BF03E9-309D-1389-6DAC-9224EBFBBAD0}"/>
              </a:ext>
            </a:extLst>
          </p:cNvPr>
          <p:cNvPicPr>
            <a:picLocks noChangeAspect="1"/>
          </p:cNvPicPr>
          <p:nvPr/>
        </p:nvPicPr>
        <p:blipFill>
          <a:blip r:embed="rId3"/>
          <a:stretch>
            <a:fillRect/>
          </a:stretch>
        </p:blipFill>
        <p:spPr>
          <a:xfrm>
            <a:off x="8430823" y="1896734"/>
            <a:ext cx="1895740" cy="4220164"/>
          </a:xfrm>
          <a:prstGeom prst="rect">
            <a:avLst/>
          </a:prstGeom>
        </p:spPr>
      </p:pic>
      <p:sp>
        <p:nvSpPr>
          <p:cNvPr id="8" name="TextBox 7">
            <a:extLst>
              <a:ext uri="{FF2B5EF4-FFF2-40B4-BE49-F238E27FC236}">
                <a16:creationId xmlns:a16="http://schemas.microsoft.com/office/drawing/2014/main" id="{74017BEF-26C3-DAE5-23F6-839175FEB9D0}"/>
              </a:ext>
            </a:extLst>
          </p:cNvPr>
          <p:cNvSpPr txBox="1"/>
          <p:nvPr/>
        </p:nvSpPr>
        <p:spPr>
          <a:xfrm>
            <a:off x="1865437" y="1424379"/>
            <a:ext cx="2007409" cy="369332"/>
          </a:xfrm>
          <a:prstGeom prst="rect">
            <a:avLst/>
          </a:prstGeom>
          <a:noFill/>
        </p:spPr>
        <p:txBody>
          <a:bodyPr wrap="none" rtlCol="0">
            <a:spAutoFit/>
          </a:bodyPr>
          <a:lstStyle/>
          <a:p>
            <a:r>
              <a:rPr lang="en-US" dirty="0"/>
              <a:t>Fake News Stories</a:t>
            </a:r>
          </a:p>
        </p:txBody>
      </p:sp>
      <p:sp>
        <p:nvSpPr>
          <p:cNvPr id="9" name="TextBox 8">
            <a:extLst>
              <a:ext uri="{FF2B5EF4-FFF2-40B4-BE49-F238E27FC236}">
                <a16:creationId xmlns:a16="http://schemas.microsoft.com/office/drawing/2014/main" id="{3BFE3188-7A42-BAE8-A94C-BD39F62FB496}"/>
              </a:ext>
            </a:extLst>
          </p:cNvPr>
          <p:cNvSpPr txBox="1"/>
          <p:nvPr/>
        </p:nvSpPr>
        <p:spPr>
          <a:xfrm>
            <a:off x="8362884" y="1424379"/>
            <a:ext cx="1963679" cy="369332"/>
          </a:xfrm>
          <a:prstGeom prst="rect">
            <a:avLst/>
          </a:prstGeom>
          <a:noFill/>
        </p:spPr>
        <p:txBody>
          <a:bodyPr wrap="none" rtlCol="0">
            <a:spAutoFit/>
          </a:bodyPr>
          <a:lstStyle/>
          <a:p>
            <a:r>
              <a:rPr lang="en-US" dirty="0"/>
              <a:t>True News Stories</a:t>
            </a:r>
          </a:p>
        </p:txBody>
      </p:sp>
    </p:spTree>
    <p:extLst>
      <p:ext uri="{BB962C8B-B14F-4D97-AF65-F5344CB8AC3E}">
        <p14:creationId xmlns:p14="http://schemas.microsoft.com/office/powerpoint/2010/main" val="405267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F63DA-CB08-31B3-FA2C-1C3106A270E7}"/>
              </a:ext>
            </a:extLst>
          </p:cNvPr>
          <p:cNvSpPr>
            <a:spLocks noGrp="1"/>
          </p:cNvSpPr>
          <p:nvPr>
            <p:ph type="title"/>
          </p:nvPr>
        </p:nvSpPr>
        <p:spPr/>
        <p:txBody>
          <a:bodyPr/>
          <a:lstStyle/>
          <a:p>
            <a:pPr algn="ctr"/>
            <a:r>
              <a:rPr lang="en-US" dirty="0"/>
              <a:t>Word Clouds</a:t>
            </a:r>
          </a:p>
        </p:txBody>
      </p:sp>
      <p:pic>
        <p:nvPicPr>
          <p:cNvPr id="4" name="Content Placeholder 3">
            <a:extLst>
              <a:ext uri="{FF2B5EF4-FFF2-40B4-BE49-F238E27FC236}">
                <a16:creationId xmlns:a16="http://schemas.microsoft.com/office/drawing/2014/main" id="{D2ED4412-824F-16AF-0B60-01A588DE5F72}"/>
              </a:ext>
            </a:extLst>
          </p:cNvPr>
          <p:cNvPicPr>
            <a:picLocks noGrp="1" noChangeAspect="1"/>
          </p:cNvPicPr>
          <p:nvPr>
            <p:ph idx="1"/>
          </p:nvPr>
        </p:nvPicPr>
        <p:blipFill>
          <a:blip r:embed="rId2"/>
          <a:stretch>
            <a:fillRect/>
          </a:stretch>
        </p:blipFill>
        <p:spPr>
          <a:xfrm>
            <a:off x="0" y="1816100"/>
            <a:ext cx="6873045" cy="4351338"/>
          </a:xfrm>
          <a:prstGeom prst="rect">
            <a:avLst/>
          </a:prstGeom>
        </p:spPr>
      </p:pic>
      <p:pic>
        <p:nvPicPr>
          <p:cNvPr id="5" name="Picture 4">
            <a:extLst>
              <a:ext uri="{FF2B5EF4-FFF2-40B4-BE49-F238E27FC236}">
                <a16:creationId xmlns:a16="http://schemas.microsoft.com/office/drawing/2014/main" id="{36F1E1D1-38DD-8E7C-25F8-90D4BEE5FFEE}"/>
              </a:ext>
            </a:extLst>
          </p:cNvPr>
          <p:cNvPicPr>
            <a:picLocks noChangeAspect="1"/>
          </p:cNvPicPr>
          <p:nvPr/>
        </p:nvPicPr>
        <p:blipFill>
          <a:blip r:embed="rId3"/>
          <a:stretch>
            <a:fillRect/>
          </a:stretch>
        </p:blipFill>
        <p:spPr>
          <a:xfrm>
            <a:off x="5023679" y="1796785"/>
            <a:ext cx="7101646" cy="4496065"/>
          </a:xfrm>
          <a:prstGeom prst="rect">
            <a:avLst/>
          </a:prstGeom>
        </p:spPr>
      </p:pic>
    </p:spTree>
    <p:extLst>
      <p:ext uri="{BB962C8B-B14F-4D97-AF65-F5344CB8AC3E}">
        <p14:creationId xmlns:p14="http://schemas.microsoft.com/office/powerpoint/2010/main" val="35396735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215</Words>
  <Application>Microsoft Office PowerPoint</Application>
  <PresentationFormat>Widescreen</PresentationFormat>
  <Paragraphs>30</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Georgia</vt:lpstr>
      <vt:lpstr>zeitung</vt:lpstr>
      <vt:lpstr>Office Theme</vt:lpstr>
      <vt:lpstr>Detecting Fake vs. Real News Using SVM and Word Clouds </vt:lpstr>
      <vt:lpstr>Contributors</vt:lpstr>
      <vt:lpstr>Goal</vt:lpstr>
      <vt:lpstr>Why Fake News Detection Matters</vt:lpstr>
      <vt:lpstr>Dataset used for Analysis</vt:lpstr>
      <vt:lpstr>Sentiment Analysis</vt:lpstr>
      <vt:lpstr>support vector machine (SVM) </vt:lpstr>
      <vt:lpstr>Most used words</vt:lpstr>
      <vt:lpstr>Word Clouds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zakk wright</dc:creator>
  <cp:lastModifiedBy>zakk wright</cp:lastModifiedBy>
  <cp:revision>1</cp:revision>
  <dcterms:created xsi:type="dcterms:W3CDTF">2025-12-07T06:19:39Z</dcterms:created>
  <dcterms:modified xsi:type="dcterms:W3CDTF">2025-12-07T06:40:23Z</dcterms:modified>
</cp:coreProperties>
</file>